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24"/>
    <p:restoredTop sz="94610"/>
  </p:normalViewPr>
  <p:slideViewPr>
    <p:cSldViewPr snapToGrid="0" snapToObjects="1">
      <p:cViewPr>
        <p:scale>
          <a:sx n="92" d="100"/>
          <a:sy n="92" d="100"/>
        </p:scale>
        <p:origin x="20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Decks created</c:v>
                </c:pt>
              </c:strCache>
            </c:strRef>
          </c:tx>
          <c:spPr>
            <a:solidFill>
              <a:srgbClr val="3E434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BB-9A4F-8B0B-BD8CEA74BD3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0BB-9A4F-8B0B-BD8CEA74BD3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0BB-9A4F-8B0B-BD8CEA74BD3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0BB-9A4F-8B0B-BD8CEA74BD38}"/>
              </c:ext>
            </c:extLst>
          </c:dPt>
          <c:dPt>
            <c:idx val="4"/>
            <c:invertIfNegative val="0"/>
            <c:bubble3D val="0"/>
            <c:spPr>
              <a:solidFill>
                <a:srgbClr val="EBA9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BB-9A4F-8B0B-BD8CEA74B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4F5F7"/>
                    </a:solidFill>
                    <a:latin typeface="JetBrains Mono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Nov</c:v>
                </c:pt>
                <c:pt idx="1">
                  <c:v>Dec</c:v>
                </c:pt>
                <c:pt idx="2">
                  <c:v>Jan</c:v>
                </c:pt>
                <c:pt idx="3">
                  <c:v>Feb</c:v>
                </c:pt>
                <c:pt idx="4">
                  <c:v>Mar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19</c:v>
                </c:pt>
                <c:pt idx="2">
                  <c:v>28</c:v>
                </c:pt>
                <c:pt idx="3">
                  <c:v>41</c:v>
                </c:pt>
                <c:pt idx="4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0BB-9A4F-8B0B-BD8CEA74BD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276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2E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276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01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1012"/>
    </a:solidFill>
    <a:ln w="12700" cap="flat">
      <a:solidFill>
        <a:srgbClr val="0E101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64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B4DF-30E6-D95A-53BC-4579BF61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A1B96-5C31-F6DC-C09F-A18A22EA4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F1D89-DF77-032B-EF6E-83B6BD45F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E0489-066A-AB23-7D9C-E65A613E9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3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ASE"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85800" cy="685800"/>
          </a:xfrm>
          <a:prstGeom prst="rect">
            <a:avLst/>
          </a:prstGeom>
          <a:solidFill>
            <a:srgbClr val="EBA941">
              <a:alpha val="18000"/>
            </a:srgbClr>
          </a:solidFill>
          <a:ln w="9525">
            <a:solidFill>
              <a:srgbClr val="9767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PRESENTATION TEMPLATE · V1.0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7600" kern="0" spc="-15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Design system</a:t>
            </a:r>
            <a:endParaRPr lang="en-US" sz="7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7600" kern="0" spc="-15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for dark decks.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restrained graphite palette with a single warm accent.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kind of decks where tone is doing half the work.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COVER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 ·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000" kern="0" spc="-20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Tokens, typography,</a:t>
            </a:r>
            <a:endParaRPr lang="en-US" sz="9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000" kern="0" spc="-20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&amp; restraint.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Cool graphite base,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warm amber accent.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token maps to a specific role. The amber never fills a background — it only marks the one thing on a slide that deserves attention.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005840"/>
            <a:ext cx="685800" cy="685800"/>
          </a:xfrm>
          <a:prstGeom prst="rect">
            <a:avLst/>
          </a:prstGeom>
          <a:solidFill>
            <a:srgbClr val="0E1012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60920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#0E1012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783080"/>
            <a:ext cx="685800" cy="685800"/>
          </a:xfrm>
          <a:prstGeom prst="rect">
            <a:avLst/>
          </a:prstGeom>
          <a:solidFill>
            <a:srgbClr val="151719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6092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--bg-raised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2130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#151719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560320"/>
            <a:ext cx="685800" cy="685800"/>
          </a:xfrm>
          <a:prstGeom prst="rect">
            <a:avLst/>
          </a:prstGeom>
          <a:solidFill>
            <a:srgbClr val="1C1E21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--bg-surface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#1C1E21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337560"/>
            <a:ext cx="685800" cy="685800"/>
          </a:xfrm>
          <a:prstGeom prst="rect">
            <a:avLst/>
          </a:prstGeom>
          <a:solidFill>
            <a:srgbClr val="222427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--bg-hover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3685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#222427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114800"/>
            <a:ext cx="685800" cy="685800"/>
          </a:xfrm>
          <a:prstGeom prst="rect">
            <a:avLst/>
          </a:prstGeom>
          <a:solidFill>
            <a:srgbClr val="2B2E32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#2B2E32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4892040"/>
            <a:ext cx="685800" cy="685800"/>
          </a:xfrm>
          <a:prstGeom prst="rect">
            <a:avLst/>
          </a:prstGeom>
          <a:solidFill>
            <a:srgbClr val="3E4348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60920" y="4965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--border-strong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5239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#3E4348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9720" y="1005840"/>
            <a:ext cx="685800" cy="685800"/>
          </a:xfrm>
          <a:prstGeom prst="rect">
            <a:avLst/>
          </a:prstGeom>
          <a:solidFill>
            <a:srgbClr val="F4F5F7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66960" y="1078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0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#F4F5F7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89720" y="1783080"/>
            <a:ext cx="685800" cy="685800"/>
          </a:xfrm>
          <a:prstGeom prst="rect">
            <a:avLst/>
          </a:prstGeom>
          <a:solidFill>
            <a:srgbClr val="A1A5A9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6696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--text-muted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2130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#A1A5A9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9720" y="2560320"/>
            <a:ext cx="685800" cy="685800"/>
          </a:xfrm>
          <a:prstGeom prst="rect">
            <a:avLst/>
          </a:prstGeom>
          <a:solidFill>
            <a:srgbClr val="6E7276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6696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--text-dim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#6E7276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89720" y="3337560"/>
            <a:ext cx="685800" cy="685800"/>
          </a:xfrm>
          <a:prstGeom prst="rect">
            <a:avLst/>
          </a:prstGeom>
          <a:solidFill>
            <a:srgbClr val="EBA941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6696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A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--accent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66960" y="3685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#EBA941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89720" y="4114800"/>
            <a:ext cx="685800" cy="685800"/>
          </a:xfrm>
          <a:prstGeom prst="rect">
            <a:avLst/>
          </a:prstGeom>
          <a:solidFill>
            <a:srgbClr val="4EBE7D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96696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--ok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6696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#4EBE7D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89720" y="4892040"/>
            <a:ext cx="685800" cy="685800"/>
          </a:xfrm>
          <a:prstGeom prst="rect">
            <a:avLst/>
          </a:prstGeom>
          <a:solidFill>
            <a:srgbClr val="F3625D"/>
          </a:solidFill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966960" y="4965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--bad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966960" y="5239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#F3625D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PALETTE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 · Q1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numbers that matter.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 HANDLED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kern="0" spc="-200" dirty="0">
                <a:solidFill>
                  <a:srgbClr val="F4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2.4M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BE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 QoQ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46778" y="3108960"/>
            <a:ext cx="0" cy="256032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75378" y="3108960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MEDIAN LATENCY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5378" y="352044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kern="0" spc="-20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87ms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475378" y="507492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 under SLA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44917" y="3108960"/>
            <a:ext cx="0" cy="256032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3517" y="3108960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3517" y="3520440"/>
            <a:ext cx="33323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kern="0" spc="-200" dirty="0">
                <a:solidFill>
                  <a:srgbClr val="F4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99.98%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173517" y="507492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BE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exceeds 99.9% target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METRICS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Before and after migration.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64328" cy="3520440"/>
          </a:xfrm>
          <a:prstGeom prst="rect">
            <a:avLst/>
          </a:prstGeom>
          <a:solidFill>
            <a:srgbClr val="F3625D">
              <a:alpha val="12000"/>
            </a:srgbClr>
          </a:solidFill>
          <a:ln w="9525">
            <a:solidFill>
              <a:srgbClr val="F362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3108960"/>
            <a:ext cx="1005840" cy="292608"/>
          </a:xfrm>
          <a:prstGeom prst="rect">
            <a:avLst/>
          </a:prstGeom>
          <a:solidFill>
            <a:srgbClr val="F3625D">
              <a:alpha val="20000"/>
            </a:srgbClr>
          </a:solidFill>
          <a:ln w="6350">
            <a:solidFill>
              <a:srgbClr val="F362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80" dirty="0">
                <a:solidFill>
                  <a:srgbClr val="F362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3611880"/>
            <a:ext cx="454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Cold starts</a:t>
            </a:r>
            <a:endParaRPr lang="en-US" sz="3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6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over 400ms.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60120" y="512064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Cold-start variance on first request made p99 latency unacceptable for interactive traffic. Warm instances were underutilized between bursts.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697480"/>
            <a:ext cx="5364328" cy="3520440"/>
          </a:xfrm>
          <a:prstGeom prst="rect">
            <a:avLst/>
          </a:prstGeom>
          <a:solidFill>
            <a:srgbClr val="4EBE7D">
              <a:alpha val="10000"/>
            </a:srgbClr>
          </a:solidFill>
          <a:ln w="9525">
            <a:solidFill>
              <a:srgbClr val="4EB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90208" y="3108960"/>
            <a:ext cx="914400" cy="292608"/>
          </a:xfrm>
          <a:prstGeom prst="rect">
            <a:avLst/>
          </a:prstGeom>
          <a:solidFill>
            <a:srgbClr val="4EBE7D">
              <a:alpha val="18000"/>
            </a:srgbClr>
          </a:solidFill>
          <a:ln w="6350">
            <a:solidFill>
              <a:srgbClr val="4EB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90208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80" dirty="0">
                <a:solidFill>
                  <a:srgbClr val="4EBE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90208" y="3611880"/>
            <a:ext cx="4541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Steady 87ms p99.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90208" y="512064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Prewarm pool plus smarter routing flattened the tail. Every interactive request now completes well under target, with headroom for traffic spikes.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COMPARISON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Four phases over two quarters.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6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Foundation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2316404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system, typography, and core layouts locked.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22244" y="3017520"/>
            <a:ext cx="0" cy="301752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96564" y="30175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96564" y="342900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6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Analysis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596564" y="4343400"/>
            <a:ext cx="2316404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96564" y="452628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legacy decks, catalog motifs, identify gaps.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48" y="3017520"/>
            <a:ext cx="0" cy="301752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70168" y="30175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0168" y="342900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6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Migration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370168" y="4343400"/>
            <a:ext cx="2316404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0168" y="452628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priority decks. Train teams on layouts and rules.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451" y="3017520"/>
            <a:ext cx="0" cy="301752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3771" y="30175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3771" y="342900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-6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Adoption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143771" y="4343400"/>
            <a:ext cx="2316404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3771" y="452628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final templates and retire legacy themes.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PHASES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USAGE · MONTHLY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kern="0" spc="-10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Adoption spiked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kern="0" spc="-10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 March.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onboarded gradually through Q1 before a hockey-stick in March, when the template shipped as the default in the authoring tool.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675120" y="1234440"/>
          <a:ext cx="49377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tiers, one recommended.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F4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$29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3058058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10 decks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templates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9930" y="2670048"/>
            <a:ext cx="3551834" cy="3575304"/>
          </a:xfrm>
          <a:prstGeom prst="rect">
            <a:avLst/>
          </a:prstGeom>
          <a:solidFill>
            <a:srgbClr val="EBA941">
              <a:alpha val="8000"/>
            </a:srgbClr>
          </a:solidFill>
          <a:ln w="9525">
            <a:solidFill>
              <a:srgbClr val="EBA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66818" y="2971800"/>
            <a:ext cx="1463040" cy="292608"/>
          </a:xfrm>
          <a:prstGeom prst="rect">
            <a:avLst/>
          </a:prstGeom>
          <a:solidFill>
            <a:srgbClr val="EBA941">
              <a:alpha val="22000"/>
            </a:srgbClr>
          </a:solidFill>
          <a:ln w="6350">
            <a:solidFill>
              <a:srgbClr val="EBA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66818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MOST COMMON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66818" y="34290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A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6818" y="379476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$99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4566818" y="4800600"/>
            <a:ext cx="3058058" cy="0"/>
          </a:xfrm>
          <a:prstGeom prst="line">
            <a:avLst/>
          </a:prstGeom>
          <a:noFill/>
          <a:ln w="6350">
            <a:solidFill>
              <a:srgbClr val="EBA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66818" y="498348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decks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templates + masters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support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libraries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64957" y="34290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4957" y="379476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F4F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8264957" y="4800600"/>
            <a:ext cx="3058058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64957" y="498348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branding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+ audit logs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support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1A5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available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PRICING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kern="0" spc="-30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Thank you.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invokecodemod.dev  ·  hello@invokecodemod.dev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E4C7-248B-41C5-81BC-33E6FBAA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217EA7-2CDA-EDB7-03E6-6DACF99DA964}"/>
              </a:ext>
            </a:extLst>
          </p:cNvPr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 · INVOKECODEMOD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D32159-45EC-9E30-45E8-6546341323D8}"/>
              </a:ext>
            </a:extLst>
          </p:cNvPr>
          <p:cNvSpPr/>
          <p:nvPr/>
        </p:nvSpPr>
        <p:spPr>
          <a:xfrm>
            <a:off x="6156655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DRAFT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CCBB87-5DA2-1D26-2E38-C18BB7469700}"/>
              </a:ext>
            </a:extLst>
          </p:cNvPr>
          <p:cNvSpPr/>
          <p:nvPr/>
        </p:nvSpPr>
        <p:spPr>
          <a:xfrm>
            <a:off x="548640" y="59436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271256-51A5-6ABB-722B-D93852479C44}"/>
              </a:ext>
            </a:extLst>
          </p:cNvPr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EBA9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 · Q1 2026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EA738A-E2DE-104B-D861-6B1EDF7362E0}"/>
              </a:ext>
            </a:extLst>
          </p:cNvPr>
          <p:cNvSpPr/>
          <p:nvPr/>
        </p:nvSpPr>
        <p:spPr>
          <a:xfrm>
            <a:off x="54864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80" dirty="0">
                <a:solidFill>
                  <a:srgbClr val="F4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numbers that matter.</a:t>
            </a:r>
            <a:endParaRPr lang="en-US" sz="4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E40328A-E0CD-1166-76E6-83FC14C44C0C}"/>
              </a:ext>
            </a:extLst>
          </p:cNvPr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2B2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D017759-1A22-E73C-A681-7B2CAC6E86E2}"/>
              </a:ext>
            </a:extLst>
          </p:cNvPr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METRICS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EB7A9C4-2CAA-2978-44BD-C27BC166FD0B}"/>
              </a:ext>
            </a:extLst>
          </p:cNvPr>
          <p:cNvSpPr/>
          <p:nvPr/>
        </p:nvSpPr>
        <p:spPr>
          <a:xfrm>
            <a:off x="6156655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50" dirty="0">
                <a:solidFill>
                  <a:srgbClr val="6E7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7253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vokeCodeMod-Template" id="{B6B47CF7-3ABD-3146-A4A4-8E28D1F43F4D}" vid="{B80A9238-5EED-0446-A97D-35D9B07E87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8515</TotalTime>
  <Words>498</Words>
  <Application>Microsoft Macintosh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Inter Tight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Andrew Lavoie</dc:creator>
  <cp:lastModifiedBy>Andrew Lavoie</cp:lastModifiedBy>
  <cp:revision>1</cp:revision>
  <dcterms:created xsi:type="dcterms:W3CDTF">2026-04-21T20:24:08Z</dcterms:created>
  <dcterms:modified xsi:type="dcterms:W3CDTF">2026-04-27T18:21:08Z</dcterms:modified>
</cp:coreProperties>
</file>